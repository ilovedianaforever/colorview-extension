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3840480"/>
            <a:ext cx="3840480" cy="3840480"/>
          </a:xfrm>
          <a:prstGeom prst="ellipse">
            <a:avLst/>
          </a:prstGeom>
          <a:solidFill>
            <a:srgbClr val="7C3AED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5029200"/>
            <a:ext cx="2286000" cy="2286000"/>
          </a:xfrm>
          <a:prstGeom prst="ellipse">
            <a:avLst/>
          </a:prstGeom>
          <a:solidFill>
            <a:srgbClr val="4472C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人机交互技术  |  期末项目汇报</a:t>
            </a:r>
            <a:endParaRPr sz="15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9144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ColorView</a:t>
            </a:r>
            <a:endParaRPr sz="6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色盲模拟与对比度检查器</a:t>
            </a:r>
            <a:endParaRPr sz="3000" b="0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5943600" cy="317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Chrome / Edge / Firefox 浏览器扩展  +  独立网页工具</a:t>
            </a:r>
            <a:endParaRPr sz="17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79" y="1920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 6 种 CVD 类型实时模拟</a:t>
            </a:r>
            <a:endParaRPr sz="16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79" y="23774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 WCAG 2.1 对比度检测</a:t>
            </a:r>
            <a:endParaRPr sz="16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79" y="2834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 双产品形态交付</a:t>
            </a:r>
            <a:endParaRPr sz="16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2026 年 6 月</a:t>
            </a:r>
            <a:endParaRPr sz="15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议程  /  Agenda</a:t>
            </a:r>
            <a:endParaRPr sz="3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103120" cy="3931920"/>
          </a:xfrm>
          <a:prstGeom prst="rect">
            <a:avLst/>
          </a:prstGeom>
          <a:solidFill>
            <a:srgbClr val="0F3C6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1031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800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问题背景
&amp; Demo 演示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4498848"/>
            <a:ext cx="155448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1 min</a:t>
            </a:r>
            <a:endParaRPr sz="1700" b="0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07208" y="1371600"/>
            <a:ext cx="2103120" cy="3931920"/>
          </a:xfrm>
          <a:prstGeom prst="rect">
            <a:avLst/>
          </a:prstGeom>
          <a:solidFill>
            <a:srgbClr val="0F3C6B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7208" y="1371600"/>
            <a:ext cx="210312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1463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800" b="1" i="0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07208" y="2029968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已实现
功能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81528" y="4498848"/>
            <a:ext cx="1554480" cy="1905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1 min</a:t>
            </a:r>
            <a:endParaRPr sz="1700" b="0" i="0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11496" y="1371600"/>
            <a:ext cx="2103120" cy="3931920"/>
          </a:xfrm>
          <a:prstGeom prst="rect">
            <a:avLst/>
          </a:prstGeom>
          <a:solidFill>
            <a:srgbClr val="0F3C6B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11496" y="1371600"/>
            <a:ext cx="2103120" cy="50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1463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8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11496" y="2029968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未实现
功能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85816" y="4498848"/>
            <a:ext cx="1554480" cy="190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11496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1 min</a:t>
            </a:r>
            <a:endParaRPr sz="1700" b="0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15784" y="1371600"/>
            <a:ext cx="2103120" cy="3931920"/>
          </a:xfrm>
          <a:prstGeom prst="rect">
            <a:avLst/>
          </a:prstGeom>
          <a:solidFill>
            <a:srgbClr val="0F3C6B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15784" y="1371600"/>
            <a:ext cx="2103120" cy="50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4" y="1463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800" b="1" i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15784" y="2029968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完成度
评估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90104" y="4498848"/>
            <a:ext cx="155448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5784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30 s</a:t>
            </a:r>
            <a:endParaRPr sz="1700" b="0" i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720072" y="1371600"/>
            <a:ext cx="2103120" cy="3931920"/>
          </a:xfrm>
          <a:prstGeom prst="rect">
            <a:avLst/>
          </a:prstGeom>
          <a:solidFill>
            <a:srgbClr val="0F3C6B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0072" y="1371600"/>
            <a:ext cx="210312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0072" y="1463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800" b="1" i="0">
              <a:solidFill>
                <a:srgbClr val="E74C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720072" y="2029968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Q &amp; A
教师反馈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994392" y="4498848"/>
            <a:ext cx="1554480" cy="1905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0072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1 min</a:t>
            </a:r>
            <a:endParaRPr sz="1700" b="0" i="0">
              <a:solidFill>
                <a:srgbClr val="E74C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63550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总时长：约 4.5 分钟  +  教师反馈环节</a:t>
            </a:r>
            <a:endParaRPr sz="14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问题背景</a:t>
            </a:r>
            <a:endParaRPr sz="3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◷ 1 min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8%</a:t>
            </a:r>
            <a:endParaRPr sz="8400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24871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男性患有色觉缺陷 (CVD)</a:t>
            </a:r>
            <a:endParaRPr sz="16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31546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3亿+</a:t>
            </a:r>
            <a:endParaRPr sz="64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全球 CVD 总人数</a:t>
            </a:r>
            <a:endParaRPr sz="16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4937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目标用户：需制作 PPT / 网页的在校大学生</a:t>
            </a:r>
            <a:endParaRPr sz="1400" b="0" i="0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86200" y="1097280"/>
            <a:ext cx="25400" cy="5120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09728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现有工具的四大痛点</a:t>
            </a:r>
            <a:endParaRPr sz="2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60520" y="1783080"/>
            <a:ext cx="7726679" cy="868680"/>
          </a:xfrm>
          <a:prstGeom prst="rect">
            <a:avLst/>
          </a:prstGeom>
          <a:solidFill>
            <a:srgbClr val="0F3C6B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833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⚡ 功能割裂</a:t>
            </a:r>
            <a:endParaRPr sz="17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9400" y="183388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模拟工具与对比度检查器分离，需多工具切换</a:t>
            </a:r>
            <a:endParaRPr sz="15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60520" y="2807208"/>
            <a:ext cx="7726679" cy="868680"/>
          </a:xfrm>
          <a:prstGeom prst="rect">
            <a:avLst/>
          </a:prstGeom>
          <a:solidFill>
            <a:srgbClr val="0F3C6B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8580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💸 使用门槛高</a:t>
            </a:r>
            <a:endParaRPr sz="17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29400" y="285800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Stark 等插件需付费订阅 + 专业软件安装</a:t>
            </a:r>
            <a:endParaRPr sz="15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60520" y="3831336"/>
            <a:ext cx="7726679" cy="868680"/>
          </a:xfrm>
          <a:prstGeom prst="rect">
            <a:avLst/>
          </a:prstGeom>
          <a:solidFill>
            <a:srgbClr val="0F3C6B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388213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❓ 缺乏教育引导</a:t>
            </a:r>
            <a:endParaRPr sz="17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29400" y="38821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只显示结果，不解释问题严重程度和改进方法</a:t>
            </a:r>
            <a:endParaRPr sz="15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60520" y="4855464"/>
            <a:ext cx="7726679" cy="868680"/>
          </a:xfrm>
          <a:prstGeom prst="rect">
            <a:avLst/>
          </a:prstGeom>
          <a:solidFill>
            <a:srgbClr val="0F3C6B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90626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🌏 中文生态缺失</a:t>
            </a:r>
            <a:endParaRPr sz="17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9400" y="490626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主流工具英文界面为主，不适合中文用户使用</a:t>
            </a:r>
            <a:endParaRPr sz="15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双产品 Demo 展示</a:t>
            </a:r>
            <a:endParaRPr sz="3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◷ 1 min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74320" y="1143000"/>
            <a:ext cx="5669280" cy="5303520"/>
          </a:xfrm>
          <a:prstGeom prst="rect">
            <a:avLst/>
          </a:prstGeom>
          <a:solidFill>
            <a:srgbClr val="0F3C6B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274320" y="1143000"/>
            <a:ext cx="5669280" cy="50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161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🌐  ColorView Web  （网页版）</a:t>
            </a:r>
            <a:endParaRPr sz="1900" b="1" i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411480" y="2569210"/>
            <a:ext cx="5394960" cy="3731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拖拽上传图片 PNG / JPG / WebP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左右并排：原图 vs 色盲模拟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6 种 CVD 类型实时切换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WCAG 对比度检测（AA / AAA）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量化改进建议自动生成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8 倍放大镜 + 像素采样拾色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键盘快捷键 1–6 切换 CVD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localStorage 偏好存储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411480" y="1627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index.html  ·  约 1380 行</a:t>
            </a:r>
            <a:endParaRPr sz="13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>
            <p:custDataLst>
              <p:tags r:id="rId5"/>
            </p:custDataLst>
          </p:nvPr>
        </p:nvSpPr>
        <p:spPr>
          <a:xfrm>
            <a:off x="6263640" y="1143000"/>
            <a:ext cx="5669280" cy="5303520"/>
          </a:xfrm>
          <a:prstGeom prst="rect">
            <a:avLst/>
          </a:prstGeom>
          <a:solidFill>
            <a:srgbClr val="0F3C6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6263640" y="1143000"/>
            <a:ext cx="566928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🧩  ColorView Extension  （扩展版）</a:t>
            </a:r>
            <a:endParaRPr sz="1900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6400800" y="2569210"/>
            <a:ext cx="5394960" cy="3731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页面右侧紫色悬浮球（无打扰入口）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480px 侧栏面板，不遮挡正常浏览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截图模式：Brettel 1997 像素级精确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实时模式：SVG feColorMatrix 快速滤镜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截图内点击采样 → 对比度即时检测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右键菜单：分析图片 / 开启模拟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键盘快捷键 1–6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55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● 兼容 Edge / Chrome / Firefox</a:t>
            </a:r>
            <a:endParaRPr sz="155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6400800" y="1627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colorview-extension/  ·  约 820 行  ·  Manifest V3</a:t>
            </a:r>
            <a:endParaRPr sz="13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0400" y="6537960"/>
            <a:ext cx="576072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653796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← 切换到浏览器进行现场 Demo →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HCI 设计原则  ·  Shneiderman 八项黄金法则</a:t>
            </a:r>
            <a:endParaRPr sz="3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1168" y="1143000"/>
            <a:ext cx="2834640" cy="2267712"/>
          </a:xfrm>
          <a:prstGeom prst="rect">
            <a:avLst/>
          </a:prstGeom>
          <a:solidFill>
            <a:srgbClr val="0F3C6B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43000"/>
            <a:ext cx="28346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21615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000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12161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力求一致性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0896" y="1673352"/>
            <a:ext cx="260604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双产品共享 CVD 命名和
颜色编码（绿=通过/红=未通过）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54680" y="1143000"/>
            <a:ext cx="2834640" cy="2267712"/>
          </a:xfrm>
          <a:prstGeom prst="rect">
            <a:avLst/>
          </a:prstGeom>
          <a:solidFill>
            <a:srgbClr val="0F3C6B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143000"/>
            <a:ext cx="283464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21615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000" b="1" i="0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12161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通用可用性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64408" y="1673352"/>
            <a:ext cx="260604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键盘快捷键（高级用户）
+ 按钮点击（普通用户）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08192" y="1143000"/>
            <a:ext cx="2834640" cy="2267712"/>
          </a:xfrm>
          <a:prstGeom prst="rect">
            <a:avLst/>
          </a:prstGeom>
          <a:solidFill>
            <a:srgbClr val="0F3C6B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1143000"/>
            <a:ext cx="2834640" cy="50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21615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0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1112" y="12161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信息丰富反馈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0" y="1673352"/>
            <a:ext cx="260604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CVD 切换即时重渲染
量化改进建议自动生成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61704" y="1143000"/>
            <a:ext cx="2834640" cy="2267712"/>
          </a:xfrm>
          <a:prstGeom prst="rect">
            <a:avLst/>
          </a:prstGeom>
          <a:solidFill>
            <a:srgbClr val="0F3C6B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143000"/>
            <a:ext cx="2834640" cy="50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21615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000" b="1" i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64624" y="12161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对话产生结束感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71432" y="1673352"/>
            <a:ext cx="260604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通过/未通过明确闭合
左右对比一眼判断问题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1168" y="3575304"/>
            <a:ext cx="2834640" cy="2267712"/>
          </a:xfrm>
          <a:prstGeom prst="rect">
            <a:avLst/>
          </a:prstGeom>
          <a:solidFill>
            <a:srgbClr val="0F3C6B"/>
          </a:solidFill>
          <a:ln w="1524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" y="3575304"/>
            <a:ext cx="283464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36484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000" b="1" i="0">
              <a:solidFill>
                <a:srgbClr val="E74C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4088" y="36484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预防错误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0896" y="4105656"/>
            <a:ext cx="260604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格式校验·等待提示
采样交替分配前景/背景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154680" y="3575304"/>
            <a:ext cx="2834640" cy="2267712"/>
          </a:xfrm>
          <a:prstGeom prst="rect">
            <a:avLst/>
          </a:prstGeom>
          <a:solidFill>
            <a:srgbClr val="0F3C6B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54680" y="3575304"/>
            <a:ext cx="28346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4408" y="36484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000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0" y="36484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允许轻松撤销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64408" y="4105656"/>
            <a:ext cx="260604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重新上传·重置采样颜色
CVD 切换不丢失数据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08192" y="3575304"/>
            <a:ext cx="2834640" cy="2267712"/>
          </a:xfrm>
          <a:prstGeom prst="rect">
            <a:avLst/>
          </a:prstGeom>
          <a:solidFill>
            <a:srgbClr val="0F3C6B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08192" y="3575304"/>
            <a:ext cx="283464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6484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2000" b="1" i="0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11112" y="36484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支持内部控制点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17920" y="4105656"/>
            <a:ext cx="260604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用户主动触发所有操作
侧栏随时可关闭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061704" y="3575304"/>
            <a:ext cx="2834640" cy="2267712"/>
          </a:xfrm>
          <a:prstGeom prst="rect">
            <a:avLst/>
          </a:prstGeom>
          <a:solidFill>
            <a:srgbClr val="0F3C6B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61704" y="3575304"/>
            <a:ext cx="2834640" cy="50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71432" y="36484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20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564624" y="36484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减少短期记忆负担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171432" y="4105656"/>
            <a:ext cx="260604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左右并排免记原图
放大镜实时显示 HEX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 已实现功能</a:t>
            </a:r>
            <a:endParaRPr sz="3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◷ 1 min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1143000"/>
            <a:ext cx="3749039" cy="5074920"/>
          </a:xfrm>
          <a:prstGeom prst="rect">
            <a:avLst/>
          </a:prstGeom>
          <a:solidFill>
            <a:srgbClr val="0F3C6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43000"/>
            <a:ext cx="3749039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16152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endParaRPr sz="1900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328" y="1737360"/>
            <a:ext cx="34747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6 种 CVD 类型实时模拟（Brettel 1997 算法）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WCAG 2.1 对比度检测 AA / AAA 四项判定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量化改进建议：差距 X 即可达标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左右并排对比预览（原图 vs 模拟）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8 倍放大镜 + 实时 HEX 像素采样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78223" y="1143000"/>
            <a:ext cx="3749039" cy="5074920"/>
          </a:xfrm>
          <a:prstGeom prst="rect">
            <a:avLst/>
          </a:prstGeom>
          <a:solidFill>
            <a:srgbClr val="0F3C6B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78223" y="1143000"/>
            <a:ext cx="3749039" cy="50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3" y="1216152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网页版专属</a:t>
            </a:r>
            <a:endParaRPr sz="1900" b="1" i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5383" y="1737360"/>
            <a:ext cx="34747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拖拽上传 PNG / JPG / WebP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三栏响应式布局（移动端自适应）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localStorage 偏好本地存储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键盘快捷键 1–6 切换 CVD 类型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约 1380 行，由韩宇完成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55278" y="1143000"/>
            <a:ext cx="3749039" cy="5074920"/>
          </a:xfrm>
          <a:prstGeom prst="rect">
            <a:avLst/>
          </a:prstGeom>
          <a:solidFill>
            <a:srgbClr val="0F3C6B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8" y="1143000"/>
            <a:ext cx="3749039" cy="50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8" y="1216152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扩展版专属</a:t>
            </a:r>
            <a:endParaRPr sz="19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92438" y="1737360"/>
            <a:ext cx="34747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紫色悬浮球 + 480px 侧栏面板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截图模式（Brettel 像素级精确）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实时模式（SVG feColorMatrix）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右键菜单 2 个快捷入口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✓  约 820 行，由王韩完成</a:t>
            </a:r>
            <a:endParaRPr sz="150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1168" y="6419088"/>
            <a:ext cx="11795760" cy="347472"/>
          </a:xfrm>
          <a:prstGeom prst="rect">
            <a:avLst/>
          </a:prstGeom>
          <a:solidFill>
            <a:srgbClr val="0F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4556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总代码量：约 2200 行  |  超额完成三星级工作量</a:t>
            </a:r>
            <a:endParaRPr sz="1400" b="1" i="0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 未实现功能  /  待改进</a:t>
            </a:r>
            <a:endParaRPr sz="3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◷ 1 min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2788920" cy="4754880"/>
          </a:xfrm>
          <a:prstGeom prst="rect">
            <a:avLst/>
          </a:prstGeom>
          <a:solidFill>
            <a:srgbClr val="0F3C6B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2788920" cy="50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0" y="1234440"/>
            <a:ext cx="841248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225296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待实现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1752" y="1234440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Severity 滑块</a:t>
            </a:r>
            <a:endParaRPr sz="17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1752" y="1691640"/>
            <a:ext cx="2551176" cy="12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783080"/>
            <a:ext cx="2551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CVD 严重程度动态调节</a:t>
            </a:r>
            <a:endParaRPr sz="135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" y="2240280"/>
            <a:ext cx="255117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提案规划了 Protanomaly /
Deuteranomaly 严重程度滑块
（0%–100%），当前固定
severity=0.6，UI 控件未嵌入。</a:t>
            </a:r>
            <a:endParaRPr sz="14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108960" y="1143000"/>
            <a:ext cx="2788920" cy="4754880"/>
          </a:xfrm>
          <a:prstGeom prst="rect">
            <a:avLst/>
          </a:prstGeom>
          <a:solidFill>
            <a:srgbClr val="0F3C6B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1143000"/>
            <a:ext cx="2788920" cy="50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1234440"/>
            <a:ext cx="841248" cy="2560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225296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待实现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27832" y="1234440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移动端适配</a:t>
            </a:r>
            <a:endParaRPr sz="1700" b="1" i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27832" y="1691640"/>
            <a:ext cx="2551176" cy="127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7832" y="1783080"/>
            <a:ext cx="2551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触控交互优化</a:t>
            </a:r>
            <a:endParaRPr sz="135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27832" y="2240280"/>
            <a:ext cx="255117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网页版已做响应式布局，
但触控拾色精度、放大镜
在手机端未经系统测试，
触屏交互有待专项优化。</a:t>
            </a:r>
            <a:endParaRPr sz="14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35040" y="1143000"/>
            <a:ext cx="2788920" cy="4754880"/>
          </a:xfrm>
          <a:prstGeom prst="rect">
            <a:avLst/>
          </a:prstGeom>
          <a:solidFill>
            <a:srgbClr val="0F3C6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1143000"/>
            <a:ext cx="27889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1234440"/>
            <a:ext cx="841248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1225296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待实现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53912" y="1234440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一键颜色替换</a:t>
            </a:r>
            <a:endParaRPr sz="1700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53912" y="1691640"/>
            <a:ext cx="2551176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3912" y="1783080"/>
            <a:ext cx="2551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对比度不足时自动替换</a:t>
            </a:r>
            <a:endParaRPr sz="135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53912" y="2240280"/>
            <a:ext cx="255117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当前仅给出文字方向建议
（如加深文字颜色），
未实现一键计算并替换
为满足 AA 标准最近色。</a:t>
            </a:r>
            <a:endParaRPr sz="14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961120" y="1143000"/>
            <a:ext cx="2788920" cy="4754880"/>
          </a:xfrm>
          <a:prstGeom prst="rect">
            <a:avLst/>
          </a:prstGeom>
          <a:solidFill>
            <a:srgbClr val="0F3C6B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0" y="1143000"/>
            <a:ext cx="278892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89920" y="1234440"/>
            <a:ext cx="841248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0" y="1225296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待实现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79992" y="1234440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扩展商店上架</a:t>
            </a:r>
            <a:endParaRPr sz="1700" b="1" i="0">
              <a:solidFill>
                <a:srgbClr val="E74C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079992" y="1691640"/>
            <a:ext cx="2551176" cy="127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9992" y="1783080"/>
            <a:ext cx="2551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Chrome / Firefox 正式发布</a:t>
            </a:r>
            <a:endParaRPr sz="135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79992" y="2240280"/>
            <a:ext cx="255117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代码已完成本地测试，
但正式上架流程
（唯一 ID 配置、截图准备、
审核提交）尚未启动。</a:t>
            </a:r>
            <a:endParaRPr sz="14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60533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以上 4 项均属于体验增强功能，不影响核心价值实现</a:t>
            </a:r>
            <a:endParaRPr sz="15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 项目完成度评估</a:t>
            </a:r>
            <a:endParaRPr sz="3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◷ 30 s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0" b="1" i="0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95%</a:t>
            </a:r>
            <a:endParaRPr sz="10400" b="1" i="0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3063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整体实现完成度</a:t>
            </a:r>
            <a:endParaRPr sz="19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1097280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核心算法（Brettel + WCAG 对比度）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132320" cy="2794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132320" cy="279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0" y="1275080"/>
            <a:ext cx="658368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500" b="1" i="0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0" y="1719072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网页版功能完整度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1947672"/>
            <a:ext cx="7132320" cy="2794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47672"/>
            <a:ext cx="7132320" cy="279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0" y="1896872"/>
            <a:ext cx="658368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500" b="1" i="0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9120" y="2340864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扩展版功能完整度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89120" y="2569464"/>
            <a:ext cx="7132320" cy="2794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569464"/>
            <a:ext cx="6775704" cy="279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0" y="2518664"/>
            <a:ext cx="658368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</a:rPr>
              <a:t>95%</a:t>
            </a:r>
            <a:endParaRPr sz="1500" b="1" i="0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9120" y="2962656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移动端触控适配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89120" y="3191256"/>
            <a:ext cx="7132320" cy="2794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191256"/>
            <a:ext cx="4279392" cy="279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0" y="3140456"/>
            <a:ext cx="658368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60%</a:t>
            </a:r>
            <a:endParaRPr sz="1500" b="1" i="0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9120" y="3584448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CVD Severity 滑块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89120" y="3813048"/>
            <a:ext cx="7132320" cy="2794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813048"/>
            <a:ext cx="2139696" cy="279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0" y="3762248"/>
            <a:ext cx="658368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30%</a:t>
            </a:r>
            <a:endParaRPr sz="1500" b="1" i="0">
              <a:solidFill>
                <a:srgbClr val="E74C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89120" y="4206240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商店正式上架</a:t>
            </a:r>
            <a:endParaRPr sz="135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89120" y="4434840"/>
            <a:ext cx="7132320" cy="2794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0" y="4384040"/>
            <a:ext cx="658368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微软雅黑" panose="020B0503020204020204" charset="-122"/>
                <a:ea typeface="微软雅黑" panose="020B0503020204020204" charset="-122"/>
              </a:rPr>
              <a:t>0%</a:t>
            </a:r>
            <a:endParaRPr sz="1500" b="1" i="0">
              <a:solidFill>
                <a:srgbClr val="E74C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74320" y="5989320"/>
            <a:ext cx="11640312" cy="731520"/>
          </a:xfrm>
          <a:prstGeom prst="rect">
            <a:avLst/>
          </a:prstGeom>
          <a:solidFill>
            <a:srgbClr val="0F3C6B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1081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核心功能 100% 落地  ·  未完成部分均为体验增强项  ·  总代码量约 2200 行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2926080"/>
            <a:ext cx="4754880" cy="4754880"/>
          </a:xfrm>
          <a:prstGeom prst="ellipse">
            <a:avLst/>
          </a:prstGeom>
          <a:solidFill>
            <a:srgbClr val="7C3AED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Q &amp; A</a:t>
            </a:r>
            <a:endParaRPr sz="9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感谢聆听，欢迎提问与反馈</a:t>
            </a:r>
            <a:endParaRPr sz="2800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5303520" cy="317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本地加载即可使用 / 无需额外依赖
index.html  +  colorview-extension/</a:t>
            </a:r>
            <a:endParaRPr sz="16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8686800" cy="1005840"/>
          </a:xfrm>
          <a:prstGeom prst="rect">
            <a:avLst/>
          </a:prstGeom>
          <a:solidFill>
            <a:srgbClr val="0F3C6B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3949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分工回顾</a:t>
            </a:r>
            <a:endParaRPr sz="1400" b="1" i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57790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微软雅黑" panose="020B0503020204020204" charset="-122"/>
                <a:ea typeface="微软雅黑" panose="020B0503020204020204" charset="-122"/>
              </a:rPr>
              <a:t>王韩：提案撰写 + 扩展版开发      韩宇：网页版功能实现      赵文鹏：设计报告 + 项目汇报</a:t>
            </a:r>
            <a:endParaRPr sz="1400" b="0" i="0">
              <a:solidFill>
                <a:srgbClr val="CCD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7.6,&quot;left&quot;:21.6,&quot;top&quot;:90,&quot;width&quot;:918}"/>
</p:tagLst>
</file>

<file path=ppt/tags/tag2.xml><?xml version="1.0" encoding="utf-8"?>
<p:tagLst xmlns:p="http://schemas.openxmlformats.org/presentationml/2006/main">
  <p:tag name="KSO_WM_DIAGRAM_VIRTUALLY_FRAME" val="{&quot;height&quot;:417.6,&quot;left&quot;:21.6,&quot;top&quot;:90,&quot;width&quot;:918}"/>
</p:tagLst>
</file>

<file path=ppt/tags/tag3.xml><?xml version="1.0" encoding="utf-8"?>
<p:tagLst xmlns:p="http://schemas.openxmlformats.org/presentationml/2006/main">
  <p:tag name="KSO_WM_DIAGRAM_VIRTUALLY_FRAME" val="{&quot;height&quot;:417.6,&quot;left&quot;:21.6,&quot;top&quot;:90,&quot;width&quot;:918}"/>
</p:tagLst>
</file>

<file path=ppt/tags/tag4.xml><?xml version="1.0" encoding="utf-8"?>
<p:tagLst xmlns:p="http://schemas.openxmlformats.org/presentationml/2006/main">
  <p:tag name="KSO_WM_DIAGRAM_VIRTUALLY_FRAME" val="{&quot;height&quot;:417.6,&quot;left&quot;:21.6,&quot;top&quot;:90,&quot;width&quot;:918}"/>
</p:tagLst>
</file>

<file path=ppt/tags/tag5.xml><?xml version="1.0" encoding="utf-8"?>
<p:tagLst xmlns:p="http://schemas.openxmlformats.org/presentationml/2006/main">
  <p:tag name="KSO_WM_DIAGRAM_VIRTUALLY_FRAME" val="{&quot;height&quot;:417.6,&quot;left&quot;:21.6,&quot;top&quot;:90,&quot;width&quot;:918}"/>
</p:tagLst>
</file>

<file path=ppt/tags/tag6.xml><?xml version="1.0" encoding="utf-8"?>
<p:tagLst xmlns:p="http://schemas.openxmlformats.org/presentationml/2006/main">
  <p:tag name="KSO_WM_DIAGRAM_VIRTUALLY_FRAME" val="{&quot;height&quot;:417.6,&quot;left&quot;:21.6,&quot;top&quot;:90,&quot;width&quot;:918}"/>
</p:tagLst>
</file>

<file path=ppt/tags/tag7.xml><?xml version="1.0" encoding="utf-8"?>
<p:tagLst xmlns:p="http://schemas.openxmlformats.org/presentationml/2006/main">
  <p:tag name="KSO_WM_DIAGRAM_VIRTUALLY_FRAME" val="{&quot;height&quot;:417.6,&quot;left&quot;:21.6,&quot;top&quot;:90,&quot;width&quot;:918}"/>
</p:tagLst>
</file>

<file path=ppt/tags/tag8.xml><?xml version="1.0" encoding="utf-8"?>
<p:tagLst xmlns:p="http://schemas.openxmlformats.org/presentationml/2006/main">
  <p:tag name="KSO_WM_DIAGRAM_VIRTUALLY_FRAME" val="{&quot;height&quot;:417.6,&quot;left&quot;:21.6,&quot;top&quot;:90,&quot;width&quot;:91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2209</Words>
  <Application>WPS 演示</Application>
  <PresentationFormat>On-screen Show (4:3)</PresentationFormat>
  <Paragraphs>276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赵文鹏</cp:lastModifiedBy>
  <cp:revision>2</cp:revision>
  <dcterms:created xsi:type="dcterms:W3CDTF">2013-01-27T09:14:00Z</dcterms:created>
  <dcterms:modified xsi:type="dcterms:W3CDTF">2026-06-02T10:21:10Z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353B1D508175408AACA0CD5D7046410A_12</vt:lpwstr>
  </property>
  <property fmtid="{D5CDD505-2E9C-101B-9397-08002B2CF9AE}" pid="3" name="KSOProductBuildVer">
    <vt:lpwstr>2052-12.1.0.23542</vt:lpwstr>
  </property>
</Properties>
</file>